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67" r:id="rId3"/>
    <p:sldId id="257" r:id="rId4"/>
    <p:sldId id="258" r:id="rId5"/>
    <p:sldId id="259" r:id="rId6"/>
    <p:sldId id="268" r:id="rId7"/>
    <p:sldId id="260" r:id="rId8"/>
    <p:sldId id="262" r:id="rId9"/>
    <p:sldId id="263" r:id="rId10"/>
    <p:sldId id="265" r:id="rId11"/>
    <p:sldId id="261" r:id="rId12"/>
    <p:sldId id="270" r:id="rId13"/>
    <p:sldId id="276" r:id="rId14"/>
    <p:sldId id="277" r:id="rId15"/>
    <p:sldId id="278" r:id="rId16"/>
    <p:sldId id="279" r:id="rId17"/>
    <p:sldId id="280" r:id="rId18"/>
    <p:sldId id="266" r:id="rId19"/>
    <p:sldId id="281" r:id="rId20"/>
    <p:sldId id="282" r:id="rId21"/>
    <p:sldId id="283" r:id="rId22"/>
    <p:sldId id="273" r:id="rId23"/>
    <p:sldId id="271" r:id="rId24"/>
  </p:sldIdLst>
  <p:sldSz cx="12192000" cy="6858000"/>
  <p:notesSz cx="6858000" cy="9144000"/>
  <p:embeddedFontLst>
    <p:embeddedFont>
      <p:font typeface="Plus Jakarta Sans Medium" panose="020B0604020202020204" charset="0"/>
      <p:regular r:id="rId26"/>
      <p:bold r:id="rId27"/>
      <p:italic r:id="rId28"/>
      <p:boldItalic r:id="rId29"/>
    </p:embeddedFont>
    <p:embeddedFont>
      <p:font typeface="Bodoni MT Black" panose="02070A03080606020203" pitchFamily="18" charset="0"/>
      <p:bold r:id="rId30"/>
      <p:boldItalic r:id="rId31"/>
    </p:embeddedFont>
    <p:embeddedFont>
      <p:font typeface="Outfit" panose="020B0604020202020204" charset="0"/>
      <p:regular r:id="rId32"/>
      <p:bold r:id="rId33"/>
    </p:embeddedFont>
    <p:embeddedFont>
      <p:font typeface="Outfit SemiBold" panose="020B0604020202020204" charset="0"/>
      <p:regular r:id="rId34"/>
      <p:bold r:id="rId35"/>
    </p:embeddedFont>
    <p:embeddedFont>
      <p:font typeface="Plus Jakarta Sans" panose="020B0604020202020204" charset="0"/>
      <p:regular r:id="rId36"/>
      <p:bold r:id="rId37"/>
      <p:italic r:id="rId38"/>
      <p:boldItalic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173" autoAdjust="0"/>
  </p:normalViewPr>
  <p:slideViewPr>
    <p:cSldViewPr snapToGrid="0">
      <p:cViewPr varScale="1">
        <p:scale>
          <a:sx n="89" d="100"/>
          <a:sy n="89" d="100"/>
        </p:scale>
        <p:origin x="437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27857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013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6913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200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2118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8963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7100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4580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5957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9472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6177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1108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13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8302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3175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1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70596" y="3852788"/>
            <a:ext cx="6450806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7F8"/>
                </a:solidFill>
                <a:latin typeface="Outfit"/>
                <a:ea typeface="Outfit"/>
                <a:cs typeface="Outfit"/>
                <a:sym typeface="Outfit"/>
              </a:rPr>
              <a:t>Cisco Packet Tracer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024187" y="4713759"/>
            <a:ext cx="6143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 Essential Virtual Network Simulation and Learning Platform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024187" y="5313834"/>
            <a:ext cx="61436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DAB8B2AB-2B63-F8C1-CD6F-A0A5DFF70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548" y="809838"/>
            <a:ext cx="5378904" cy="285244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84;p13" descr="image.png">
            <a:extLst>
              <a:ext uri="{FF2B5EF4-FFF2-40B4-BE49-F238E27FC236}">
                <a16:creationId xmlns:a16="http://schemas.microsoft.com/office/drawing/2014/main" xmlns="" id="{DA8535B8-68CA-DFD5-00AA-46379B7DAA0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06CB1E7-F721-CD87-AB3C-E731A3BF9BD2}"/>
              </a:ext>
            </a:extLst>
          </p:cNvPr>
          <p:cNvSpPr txBox="1"/>
          <p:nvPr/>
        </p:nvSpPr>
        <p:spPr>
          <a:xfrm>
            <a:off x="138113" y="971550"/>
            <a:ext cx="70294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What is Cisco Packet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Tracer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DAC3D05-DAE9-0AF4-139D-6EEAFDF1CADC}"/>
              </a:ext>
            </a:extLst>
          </p:cNvPr>
          <p:cNvSpPr txBox="1"/>
          <p:nvPr/>
        </p:nvSpPr>
        <p:spPr>
          <a:xfrm>
            <a:off x="138114" y="2694950"/>
            <a:ext cx="64055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Cisco Packet Tracer is a Application Software Developed to Design, Configure, Simulate and troubleshoot networks in a virtual environment.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8330DCA-F7C7-A709-519E-E218ADEF17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7" r="697"/>
          <a:stretch>
            <a:fillRect/>
          </a:stretch>
        </p:blipFill>
        <p:spPr>
          <a:xfrm>
            <a:off x="6543676" y="189309"/>
            <a:ext cx="5444181" cy="64793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3355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2738437"/>
            <a:ext cx="762000" cy="381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255645" y="3014662"/>
            <a:ext cx="568071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5F7F8"/>
                </a:solidFill>
                <a:latin typeface="Outfit"/>
                <a:ea typeface="Outfit"/>
                <a:cs typeface="Outfit"/>
                <a:sym typeface="Outfit"/>
              </a:rPr>
              <a:t>Core Features &amp; History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762250" y="3786187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Understanding how virtual simulation accelerates IT education and development</a:t>
            </a:r>
            <a:endParaRPr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95562"/>
            <a:ext cx="339729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595562"/>
            <a:ext cx="339729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2595562"/>
            <a:ext cx="3397299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057275" y="3519487"/>
            <a:ext cx="294708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Network Design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57275" y="3900487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Drag and drop devices into the active canvas. Construct custom structural layouts and test connections in a safe sandboxed zone.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92699" y="3519487"/>
            <a:ext cx="294708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Multi-Mode Testing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92699" y="3900487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Seamlessly toggle between Real-Time performance and detailed Simulation Mode to monitor frame structures and headers.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328124" y="3519487"/>
            <a:ext cx="294708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IoT &amp; Automation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328124" y="3900487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Support for sensors, actuators, and code components allowing users to program real-world smart scenarios via Python.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9575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9575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29575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04875" y="571500"/>
            <a:ext cx="110513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Main Platform Capabilities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04875" y="571500"/>
            <a:ext cx="54506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History and Evolution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2824162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8DDA"/>
                </a:solidFill>
                <a:latin typeface="Outfit"/>
                <a:ea typeface="Outfit"/>
                <a:cs typeface="Outfit"/>
                <a:sym typeface="Outfit"/>
              </a:rPr>
              <a:t>Designed for Scale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62000" y="3195637"/>
            <a:ext cx="5334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Created by Cisco Systems as an anchor resource for the Networking Academy program.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3738562"/>
            <a:ext cx="5334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Developed to eliminate the steep expense barriers of physical routers and switch laboratories for global educational programs.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62000" y="4281487"/>
            <a:ext cx="5334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Today, it supports wireless integrations, virtual cybersecurity configurations, API setups, and automation tools.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F079BC8-1F51-B33B-F021-60ABD8C717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05" r="17826"/>
          <a:stretch>
            <a:fillRect/>
          </a:stretch>
        </p:blipFill>
        <p:spPr>
          <a:xfrm>
            <a:off x="6096000" y="0"/>
            <a:ext cx="6096000" cy="689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84;p13" descr="image.png">
            <a:extLst>
              <a:ext uri="{FF2B5EF4-FFF2-40B4-BE49-F238E27FC236}">
                <a16:creationId xmlns:a16="http://schemas.microsoft.com/office/drawing/2014/main" xmlns="" id="{DEA63947-A02A-A5B6-0B3A-B38F29499B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775C0001-E6E5-EB84-DEB2-6E52C40D04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2288379" y="307127"/>
            <a:ext cx="7615239" cy="62437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0507E41-2924-04A5-0A66-F81F9429D950}"/>
              </a:ext>
            </a:extLst>
          </p:cNvPr>
          <p:cNvSpPr txBox="1"/>
          <p:nvPr/>
        </p:nvSpPr>
        <p:spPr>
          <a:xfrm>
            <a:off x="371475" y="671513"/>
            <a:ext cx="7272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Main Features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61F3432-2A65-ECFF-7BCF-2F7CFF663154}"/>
              </a:ext>
            </a:extLst>
          </p:cNvPr>
          <p:cNvSpPr txBox="1"/>
          <p:nvPr/>
        </p:nvSpPr>
        <p:spPr>
          <a:xfrm>
            <a:off x="1219881" y="1623872"/>
            <a:ext cx="1030128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Simulation and Visualization.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 of Routers, Switches, Servers and end devices.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Simulation modes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 of internet of thins (IOT) devices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Troubleshooting and packet analysis tools</a:t>
            </a:r>
          </a:p>
          <a:p>
            <a:pPr marL="571500" indent="-5715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992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37507"/>
            <a:ext cx="3397299" cy="277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437507"/>
            <a:ext cx="3397299" cy="277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2437507"/>
            <a:ext cx="3397299" cy="27734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962025" y="4161532"/>
            <a:ext cx="2997249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B192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 Devices 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Desktop PCs, laptops, network servers, IP phones, and tablets that initiate or consume actual data packets.</a:t>
            </a:r>
            <a:endParaRPr sz="1800"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4597449" y="4161532"/>
            <a:ext cx="2997249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B192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 Devices 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routers, managed switches, hubs, smart firewalls, and access points that guide and inspect traffic.</a:t>
            </a:r>
            <a:endParaRPr sz="180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8232874" y="4161532"/>
            <a:ext cx="2997249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B192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Connections &amp; Media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Copper Straight-Through, Cross-Over, Fiber Optic, and Serial interfaces matching actual cabling requirements.</a:t>
            </a:r>
            <a:endParaRPr sz="1800" dirty="0"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447032"/>
            <a:ext cx="3378249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06949" y="2447032"/>
            <a:ext cx="3378249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42374" y="2447032"/>
            <a:ext cx="3378249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04875" y="571500"/>
            <a:ext cx="110513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Essential Network Components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81275"/>
            <a:ext cx="514350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81275"/>
            <a:ext cx="51435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104900" y="2924175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8DDA"/>
                </a:solidFill>
                <a:latin typeface="Outfit"/>
                <a:ea typeface="Outfit"/>
                <a:cs typeface="Outfit"/>
                <a:sym typeface="Outfit"/>
              </a:rPr>
              <a:t>Graphical User Interface (GUI)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104900" y="335280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Intuitive window menus built for fast configurations and newcomers to systems administration.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104900" y="3924300"/>
            <a:ext cx="4457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Users can adjust general server services (DHCP, HTTP, DNS), insert components visually, and view statistics immediately without writing terminal scripts.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629400" y="2924175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8DDA"/>
                </a:solidFill>
                <a:latin typeface="Outfit"/>
                <a:ea typeface="Outfit"/>
                <a:cs typeface="Outfit"/>
                <a:sym typeface="Outfit"/>
              </a:rPr>
              <a:t>Command Line Interface (CLI)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629400" y="3352800"/>
            <a:ext cx="4457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replica of the Cisco IOS console environment used in actual data centers.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629400" y="3924300"/>
            <a:ext cx="4457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Teaches industry-standard operations like setting interfaces, assigning VLAN tag headers, dynamic routing, and checking protocols via diagnostic commands.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904875" y="571500"/>
            <a:ext cx="110513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Device Configuration Methods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3086100"/>
            <a:ext cx="51435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>
                <a:solidFill>
                  <a:srgbClr val="008DDA"/>
                </a:solidFill>
                <a:latin typeface="Outfit"/>
                <a:ea typeface="Outfit"/>
                <a:cs typeface="Outfit"/>
                <a:sym typeface="Outfit"/>
              </a:rPr>
              <a:t>100%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62000" y="4324350"/>
            <a:ext cx="5143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192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PRACTICE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286500" y="2909887"/>
            <a:ext cx="5400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Build Structural Networks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286500" y="3276509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Static &amp; Dynamic Routing: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Manually establish routes or deploy adaptive dynamic protocols like OSPF, RIP, and EIGRP to calculate the best data pathways across multiple branches.</a:t>
            </a:r>
            <a:endParaRPr dirty="0"/>
          </a:p>
        </p:txBody>
      </p:sp>
      <p:sp>
        <p:nvSpPr>
          <p:cNvPr id="187" name="Google Shape;187;p20"/>
          <p:cNvSpPr txBox="1"/>
          <p:nvPr/>
        </p:nvSpPr>
        <p:spPr>
          <a:xfrm>
            <a:off x="6286500" y="4243432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VLAN Separation: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Segment department lines like Finance, Administration, and HR into isolated Virtual Local Area Networks to optimize data protection and secure bandwidth use.</a:t>
            </a:r>
            <a:endParaRPr dirty="0"/>
          </a:p>
        </p:txBody>
      </p:sp>
      <p:sp>
        <p:nvSpPr>
          <p:cNvPr id="188" name="Google Shape;188;p20"/>
          <p:cNvSpPr txBox="1"/>
          <p:nvPr/>
        </p:nvSpPr>
        <p:spPr>
          <a:xfrm>
            <a:off x="904875" y="571500"/>
            <a:ext cx="110513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Routing &amp; Segmentation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62075"/>
            <a:ext cx="10668000" cy="49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762000" y="46863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Though simulators offer unparalleled safety and cost savings, they are best paired with real laboratory hardware to gain tangible cabling skills.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04875" y="571500"/>
            <a:ext cx="110513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Simulator vs Hardware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/>
          <p:nvPr/>
        </p:nvSpPr>
        <p:spPr>
          <a:xfrm>
            <a:off x="762000" y="3805088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703328" y="3979440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8DDA"/>
                </a:solidFill>
                <a:latin typeface="Outfit"/>
                <a:ea typeface="Outfit"/>
                <a:cs typeface="Outfit"/>
                <a:sym typeface="Outfit"/>
              </a:rPr>
              <a:t>Step 1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62000" y="4217265"/>
            <a:ext cx="2346870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Drag PC0, PC1, and Switch0 onto the workspace from the library panel.</a:t>
            </a:r>
            <a:endParaRPr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3459784" y="2835522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8DDA"/>
                </a:solidFill>
                <a:latin typeface="Outfit"/>
                <a:ea typeface="Outfit"/>
                <a:cs typeface="Outfit"/>
                <a:sym typeface="Outfit"/>
              </a:rPr>
              <a:t>Step 2</a:t>
            </a:r>
            <a:endParaRPr dirty="0"/>
          </a:p>
        </p:txBody>
      </p:sp>
      <p:sp>
        <p:nvSpPr>
          <p:cNvPr id="152" name="Google Shape;152;p18"/>
          <p:cNvSpPr txBox="1"/>
          <p:nvPr/>
        </p:nvSpPr>
        <p:spPr>
          <a:xfrm>
            <a:off x="3518456" y="3111747"/>
            <a:ext cx="2346870" cy="58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 both PC terminals to empty </a:t>
            </a:r>
            <a:r>
              <a:rPr lang="en-US" sz="975" b="0" i="0" u="none" strike="noStrike" cap="none" dirty="0" smtClean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 Ethernet 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ports using Straight-Through cables.</a:t>
            </a:r>
            <a:endParaRPr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6250747" y="3938139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8DDA"/>
                </a:solidFill>
                <a:latin typeface="Outfit"/>
                <a:ea typeface="Outfit"/>
                <a:cs typeface="Outfit"/>
                <a:sym typeface="Outfit"/>
              </a:rPr>
              <a:t>Step 3</a:t>
            </a:r>
            <a:endParaRPr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6309419" y="4212952"/>
            <a:ext cx="234687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Assign IPs: 192.168.1.1 on PC0 and 192.168.1.2 on PC1 with standard subnet masks.</a:t>
            </a:r>
            <a:endParaRPr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8938732" y="2977105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8DDA"/>
                </a:solidFill>
                <a:latin typeface="Outfit"/>
                <a:ea typeface="Outfit"/>
                <a:cs typeface="Outfit"/>
                <a:sym typeface="Outfit"/>
              </a:rPr>
              <a:t>Step 4</a:t>
            </a:r>
            <a:endParaRPr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8997404" y="3253330"/>
            <a:ext cx="2346870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 CMD on PC0 and ping 192.168.1.2 to verify successful virtual connectivity.</a:t>
            </a:r>
            <a:endParaRPr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904875" y="571500"/>
            <a:ext cx="110513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Simple Network Setup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1849710" y="373848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8D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623420" y="373848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8D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7397129" y="373848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8D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0170839" y="373848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8D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2;p14" descr="image.png">
            <a:extLst>
              <a:ext uri="{FF2B5EF4-FFF2-40B4-BE49-F238E27FC236}">
                <a16:creationId xmlns:a16="http://schemas.microsoft.com/office/drawing/2014/main" xmlns="" id="{7A4D28C3-3E5C-9107-B2BE-35869CB867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E609B7F-45B4-BAE4-2FF7-336E62668581}"/>
              </a:ext>
            </a:extLst>
          </p:cNvPr>
          <p:cNvSpPr txBox="1"/>
          <p:nvPr/>
        </p:nvSpPr>
        <p:spPr>
          <a:xfrm>
            <a:off x="609600" y="2182958"/>
            <a:ext cx="1108781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 Hardware cost.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chemeClr val="bg1"/>
                </a:solidFill>
              </a:rPr>
              <a:t>Building </a:t>
            </a:r>
            <a:r>
              <a:rPr lang="en-US" sz="2800" dirty="0">
                <a:solidFill>
                  <a:schemeClr val="bg1"/>
                </a:solidFill>
              </a:rPr>
              <a:t>a physical lab with routers, switches, </a:t>
            </a:r>
            <a:r>
              <a:rPr lang="en-US" sz="2800" dirty="0" smtClean="0">
                <a:solidFill>
                  <a:schemeClr val="bg1"/>
                </a:solidFill>
              </a:rPr>
              <a:t>access </a:t>
            </a:r>
            <a:r>
              <a:rPr lang="en-US" sz="2800" dirty="0">
                <a:solidFill>
                  <a:schemeClr val="bg1"/>
                </a:solidFill>
              </a:rPr>
              <a:t>points, </a:t>
            </a:r>
            <a:r>
              <a:rPr lang="en-US" sz="2800" dirty="0" smtClean="0">
                <a:solidFill>
                  <a:schemeClr val="bg1"/>
                </a:solidFill>
              </a:rPr>
              <a:t>and </a:t>
            </a:r>
            <a:r>
              <a:rPr lang="en-US" sz="2800" dirty="0">
                <a:solidFill>
                  <a:schemeClr val="bg1"/>
                </a:solidFill>
              </a:rPr>
              <a:t>firewalls is incredibly expensive. </a:t>
            </a:r>
            <a:r>
              <a:rPr lang="en-US" sz="2800" dirty="0" smtClean="0">
                <a:solidFill>
                  <a:schemeClr val="bg1"/>
                </a:solidFill>
              </a:rPr>
              <a:t>Packet </a:t>
            </a:r>
            <a:r>
              <a:rPr lang="en-US" sz="2800" dirty="0">
                <a:solidFill>
                  <a:schemeClr val="bg1"/>
                </a:solidFill>
              </a:rPr>
              <a:t>Tracer </a:t>
            </a:r>
            <a:r>
              <a:rPr lang="en-US" sz="2800" dirty="0" smtClean="0">
                <a:solidFill>
                  <a:schemeClr val="bg1"/>
                </a:solidFill>
              </a:rPr>
              <a:t>provides </a:t>
            </a:r>
            <a:r>
              <a:rPr lang="en-US" sz="2800" dirty="0">
                <a:solidFill>
                  <a:schemeClr val="bg1"/>
                </a:solidFill>
              </a:rPr>
              <a:t>a </a:t>
            </a:r>
            <a:r>
              <a:rPr lang="en-US" sz="2800" dirty="0" smtClean="0">
                <a:solidFill>
                  <a:schemeClr val="bg1"/>
                </a:solidFill>
              </a:rPr>
              <a:t> massive </a:t>
            </a:r>
            <a:r>
              <a:rPr lang="en-US" sz="2800" dirty="0">
                <a:solidFill>
                  <a:schemeClr val="bg1"/>
                </a:solidFill>
              </a:rPr>
              <a:t>inventory of </a:t>
            </a:r>
            <a:r>
              <a:rPr lang="en-US" sz="2800" dirty="0" smtClean="0">
                <a:solidFill>
                  <a:schemeClr val="bg1"/>
                </a:solidFill>
              </a:rPr>
              <a:t>Cisco </a:t>
            </a:r>
            <a:r>
              <a:rPr lang="en-US" sz="2800" dirty="0">
                <a:solidFill>
                  <a:schemeClr val="bg1"/>
                </a:solidFill>
              </a:rPr>
              <a:t>hardware virtually for </a:t>
            </a:r>
            <a:r>
              <a:rPr lang="en-US" sz="2800" dirty="0" smtClean="0">
                <a:solidFill>
                  <a:schemeClr val="bg1"/>
                </a:solidFill>
              </a:rPr>
              <a:t>free.</a:t>
            </a:r>
          </a:p>
          <a:p>
            <a:pPr>
              <a:buClr>
                <a:schemeClr val="bg1"/>
              </a:buClr>
            </a:pPr>
            <a:endParaRPr lang="en-US" sz="2800" dirty="0" smtClean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17B10AA-3361-AE50-D5D0-A91A4C5A1800}"/>
              </a:ext>
            </a:extLst>
          </p:cNvPr>
          <p:cNvSpPr txBox="1"/>
          <p:nvPr/>
        </p:nvSpPr>
        <p:spPr>
          <a:xfrm>
            <a:off x="0" y="366171"/>
            <a:ext cx="12554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Cisco 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Packet </a:t>
            </a:r>
            <a:r>
              <a:rPr 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Tracer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4602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81275"/>
            <a:ext cx="5143500" cy="2567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81275"/>
            <a:ext cx="5143500" cy="256764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104900" y="2794122"/>
            <a:ext cx="468058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rgbClr val="008DDA"/>
                </a:solidFill>
                <a:latin typeface="Outfit"/>
                <a:sym typeface="Outfit"/>
              </a:rPr>
              <a:t>With Real Devices</a:t>
            </a:r>
            <a:endParaRPr dirty="0"/>
          </a:p>
        </p:txBody>
      </p:sp>
      <p:sp>
        <p:nvSpPr>
          <p:cNvPr id="171" name="Google Shape;171;p19"/>
          <p:cNvSpPr txBox="1"/>
          <p:nvPr/>
        </p:nvSpPr>
        <p:spPr>
          <a:xfrm>
            <a:off x="1104900" y="3352800"/>
            <a:ext cx="4457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endParaRPr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6629400" y="2924175"/>
            <a:ext cx="468058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rgbClr val="008DDA"/>
                </a:solidFill>
                <a:latin typeface="Outfit"/>
                <a:sym typeface="Outfit"/>
              </a:rPr>
              <a:t>With Packet Tracer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904875" y="571500"/>
            <a:ext cx="11051381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850" b="1" dirty="0">
                <a:solidFill>
                  <a:srgbClr val="0B192C"/>
                </a:solidFill>
                <a:latin typeface="Outfit"/>
                <a:sym typeface="Outfit"/>
              </a:rPr>
              <a:t>For Example : If need to Test and Configure DHCP Server</a:t>
            </a:r>
            <a:endParaRPr lang="en-US" sz="3200" dirty="0"/>
          </a:p>
        </p:txBody>
      </p:sp>
      <p:sp>
        <p:nvSpPr>
          <p:cNvPr id="177" name="Google Shape;177;p19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72;p19"/>
          <p:cNvSpPr txBox="1"/>
          <p:nvPr/>
        </p:nvSpPr>
        <p:spPr>
          <a:xfrm>
            <a:off x="1104900" y="3209925"/>
            <a:ext cx="44577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smtClean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Devices Needed.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Routers 	</a:t>
            </a: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1 	$40 </a:t>
            </a:r>
            <a:r>
              <a:rPr lang="en-US" sz="120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- </a:t>
            </a: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$120</a:t>
            </a:r>
            <a:endParaRPr lang="en-US" sz="1200" dirty="0" smtClean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Switch 		1	$30 </a:t>
            </a:r>
            <a:r>
              <a:rPr lang="en-US" sz="120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- </a:t>
            </a: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$</a:t>
            </a:r>
            <a:r>
              <a:rPr lang="en-US" sz="120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8</a:t>
            </a: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0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PCs         </a:t>
            </a:r>
            <a:r>
              <a:rPr lang="en-US" sz="120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	</a:t>
            </a: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	</a:t>
            </a: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2/4	$70 </a:t>
            </a:r>
            <a:r>
              <a:rPr lang="en-US" sz="120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- </a:t>
            </a: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$150</a:t>
            </a:r>
            <a:endParaRPr lang="en-US" sz="1200" dirty="0" smtClean="0">
              <a:solidFill>
                <a:srgbClr val="475569"/>
              </a:solidFill>
              <a:latin typeface="Plus Jakarta Sans"/>
              <a:cs typeface="Plus Jakarta Sans"/>
              <a:sym typeface="Plus Jakarta Sans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Ethernet Cables 		$10 - $20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	</a:t>
            </a: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Total Cost  	             :	$150 - $ 370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	</a:t>
            </a:r>
            <a:r>
              <a:rPr lang="en-US" sz="1200" dirty="0" smtClean="0">
                <a:solidFill>
                  <a:srgbClr val="475569"/>
                </a:solidFill>
                <a:latin typeface="Plus Jakarta Sans"/>
                <a:cs typeface="Plus Jakarta Sans"/>
                <a:sym typeface="Plus Jakarta Sans"/>
              </a:rPr>
              <a:t>	( LKR 45,000 – 150,000)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974" y="3349089"/>
            <a:ext cx="2202551" cy="165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17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/>
      <p:bldP spid="173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2;p14" descr="image.png">
            <a:extLst>
              <a:ext uri="{FF2B5EF4-FFF2-40B4-BE49-F238E27FC236}">
                <a16:creationId xmlns:a16="http://schemas.microsoft.com/office/drawing/2014/main" xmlns="" id="{7A4D28C3-3E5C-9107-B2BE-35869CB867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E609B7F-45B4-BAE4-2FF7-336E62668581}"/>
              </a:ext>
            </a:extLst>
          </p:cNvPr>
          <p:cNvSpPr txBox="1"/>
          <p:nvPr/>
        </p:nvSpPr>
        <p:spPr>
          <a:xfrm>
            <a:off x="609600" y="2182958"/>
            <a:ext cx="1108781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</a:rPr>
              <a:t>Risk-Free </a:t>
            </a:r>
            <a:r>
              <a:rPr lang="en-US" sz="3600" dirty="0" smtClean="0">
                <a:solidFill>
                  <a:schemeClr val="bg1"/>
                </a:solidFill>
              </a:rPr>
              <a:t>Environment</a:t>
            </a:r>
          </a:p>
          <a:p>
            <a:pPr>
              <a:buClr>
                <a:schemeClr val="bg1"/>
              </a:buClr>
            </a:pPr>
            <a:endParaRPr lang="en-US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You can crash a network, misconfigure a routing protocol, or cause a switching loop without the fear of breaking expensive physical equipment or disrupting a live production network.</a:t>
            </a:r>
            <a:endParaRPr lang="en-US" sz="2800" dirty="0" smtClean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17B10AA-3361-AE50-D5D0-A91A4C5A1800}"/>
              </a:ext>
            </a:extLst>
          </p:cNvPr>
          <p:cNvSpPr txBox="1"/>
          <p:nvPr/>
        </p:nvSpPr>
        <p:spPr>
          <a:xfrm>
            <a:off x="0" y="366171"/>
            <a:ext cx="12554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Cisco Packet Tracer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6788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81275"/>
            <a:ext cx="51435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1104900" y="3352800"/>
            <a:ext cx="4457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904875" y="571500"/>
            <a:ext cx="11051381" cy="433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850" b="1" dirty="0">
                <a:solidFill>
                  <a:srgbClr val="0B192C"/>
                </a:solidFill>
                <a:latin typeface="Outfit"/>
                <a:sym typeface="Outfit"/>
              </a:rPr>
              <a:t>For Example </a:t>
            </a:r>
            <a:r>
              <a:rPr lang="en-US" sz="2850" b="1" dirty="0" smtClean="0">
                <a:solidFill>
                  <a:srgbClr val="0B192C"/>
                </a:solidFill>
                <a:latin typeface="Outfit" panose="020B0604020202020204" charset="0"/>
                <a:sym typeface="Outfit"/>
              </a:rPr>
              <a:t>: </a:t>
            </a:r>
          </a:p>
          <a:p>
            <a:pPr>
              <a:buClr>
                <a:schemeClr val="bg1"/>
              </a:buClr>
            </a:pPr>
            <a:endParaRPr lang="en-US" sz="2850" b="1" dirty="0">
              <a:solidFill>
                <a:srgbClr val="0B192C"/>
              </a:solidFill>
              <a:latin typeface="Outfit" panose="020B0604020202020204" charset="0"/>
              <a:sym typeface="Outfit"/>
            </a:endParaRPr>
          </a:p>
          <a:p>
            <a:pPr>
              <a:buClr>
                <a:schemeClr val="bg1"/>
              </a:buClr>
            </a:pPr>
            <a:endParaRPr lang="en-US" sz="2850" b="1" dirty="0" smtClean="0">
              <a:solidFill>
                <a:srgbClr val="0B192C"/>
              </a:solidFill>
              <a:latin typeface="Outfit" panose="020B0604020202020204" charset="0"/>
              <a:sym typeface="Outfit"/>
            </a:endParaRPr>
          </a:p>
          <a:p>
            <a:pPr>
              <a:buClr>
                <a:schemeClr val="bg1"/>
              </a:buClr>
            </a:pPr>
            <a:endParaRPr lang="en-US" sz="2850" b="1" dirty="0">
              <a:solidFill>
                <a:srgbClr val="0B192C"/>
              </a:solidFill>
              <a:latin typeface="Outfit" panose="020B0604020202020204" charset="0"/>
              <a:sym typeface="Outfit"/>
            </a:endParaRPr>
          </a:p>
          <a:p>
            <a:pPr>
              <a:buClr>
                <a:schemeClr val="bg1"/>
              </a:buClr>
            </a:pPr>
            <a:r>
              <a:rPr lang="en-US" sz="2800" dirty="0" smtClean="0">
                <a:latin typeface="Outfit" panose="020B0604020202020204" charset="0"/>
              </a:rPr>
              <a:t>You </a:t>
            </a:r>
            <a:r>
              <a:rPr lang="en-US" sz="2800" dirty="0">
                <a:latin typeface="Outfit" panose="020B0604020202020204" charset="0"/>
              </a:rPr>
              <a:t>can purposely build a </a:t>
            </a:r>
            <a:r>
              <a:rPr lang="en-US" sz="2800" b="1" dirty="0">
                <a:latin typeface="Outfit" panose="020B0604020202020204" charset="0"/>
              </a:rPr>
              <a:t>"Switching Loop"</a:t>
            </a:r>
            <a:r>
              <a:rPr lang="en-US" sz="2800" dirty="0">
                <a:latin typeface="Outfit" panose="020B0604020202020204" charset="0"/>
              </a:rPr>
              <a:t> (connecting multiple cables between two switches without Spanning Tree Protocol enabled). You will watch the virtual link lights turn blinking red as a broadcast storm crashes the topology. To fix it, you simply delete a cable or type a single command, restoring everything in seconds with zero financial damage.</a:t>
            </a:r>
            <a:r>
              <a:rPr lang="en-US" sz="2800" b="1" dirty="0" smtClean="0">
                <a:solidFill>
                  <a:srgbClr val="0B192C"/>
                </a:solidFill>
                <a:latin typeface="Outfit" panose="020B0604020202020204" charset="0"/>
                <a:sym typeface="Outfit"/>
              </a:rPr>
              <a:t> </a:t>
            </a:r>
            <a:endParaRPr lang="en-US" sz="2800" b="1" dirty="0">
              <a:latin typeface="Outfit" panose="020B0604020202020204" charset="0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99756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2;p14" descr="image.png">
            <a:extLst>
              <a:ext uri="{FF2B5EF4-FFF2-40B4-BE49-F238E27FC236}">
                <a16:creationId xmlns:a16="http://schemas.microsoft.com/office/drawing/2014/main" xmlns="" id="{7A4D28C3-3E5C-9107-B2BE-35869CB867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E609B7F-45B4-BAE4-2FF7-336E62668581}"/>
              </a:ext>
            </a:extLst>
          </p:cNvPr>
          <p:cNvSpPr txBox="1"/>
          <p:nvPr/>
        </p:nvSpPr>
        <p:spPr>
          <a:xfrm>
            <a:off x="609600" y="2182958"/>
            <a:ext cx="11087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</a:rPr>
              <a:t>Advanced Visualization </a:t>
            </a:r>
            <a:r>
              <a:rPr lang="en-US" sz="3600" dirty="0" smtClean="0">
                <a:solidFill>
                  <a:schemeClr val="bg1"/>
                </a:solidFill>
              </a:rPr>
              <a:t>Tools</a:t>
            </a:r>
          </a:p>
          <a:p>
            <a:pPr>
              <a:buClr>
                <a:schemeClr val="bg1"/>
              </a:buClr>
            </a:pPr>
            <a:endParaRPr lang="en-US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</a:rPr>
              <a:t>Simulation Mode:</a:t>
            </a:r>
            <a:r>
              <a:rPr lang="en-US" sz="2000" dirty="0">
                <a:solidFill>
                  <a:schemeClr val="bg1"/>
                </a:solidFill>
              </a:rPr>
              <a:t> Unlike real hardware where data moves invisibly through cables, Packet Tracer allows you to freeze time and watch packets (PDUs) travel step-by-step across the network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pPr>
              <a:buClr>
                <a:schemeClr val="bg1"/>
              </a:buClr>
            </a:pPr>
            <a:endParaRPr lang="en-US" sz="2000" dirty="0" smtClean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</a:rPr>
              <a:t>Protocol Analysis:</a:t>
            </a:r>
            <a:r>
              <a:rPr lang="en-US" sz="2000" dirty="0">
                <a:solidFill>
                  <a:schemeClr val="bg1"/>
                </a:solidFill>
              </a:rPr>
              <a:t> You can click on a packet at any point in its journey to inspect its headers (Layers 1 through 7), which is invaluable for understanding how protocols like TCP, IP, DNS, and ARP actually work.</a:t>
            </a:r>
            <a:endParaRPr lang="en-US" sz="2000" dirty="0" smtClean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17B10AA-3361-AE50-D5D0-A91A4C5A1800}"/>
              </a:ext>
            </a:extLst>
          </p:cNvPr>
          <p:cNvSpPr txBox="1"/>
          <p:nvPr/>
        </p:nvSpPr>
        <p:spPr>
          <a:xfrm>
            <a:off x="0" y="366171"/>
            <a:ext cx="12554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Cisco Packet Tracer is Important </a:t>
            </a:r>
          </a:p>
        </p:txBody>
      </p:sp>
    </p:spTree>
    <p:extLst>
      <p:ext uri="{BB962C8B-B14F-4D97-AF65-F5344CB8AC3E}">
        <p14:creationId xmlns:p14="http://schemas.microsoft.com/office/powerpoint/2010/main" val="3961196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1104900" y="3352800"/>
            <a:ext cx="4457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904875" y="571500"/>
            <a:ext cx="11051381" cy="421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850" b="1" dirty="0" smtClean="0">
                <a:solidFill>
                  <a:srgbClr val="0B192C"/>
                </a:solidFill>
                <a:latin typeface="Outfit"/>
                <a:sym typeface="Outfit"/>
              </a:rPr>
              <a:t>Scenario </a:t>
            </a:r>
            <a:r>
              <a:rPr lang="en-US" sz="2850" b="1" dirty="0">
                <a:solidFill>
                  <a:srgbClr val="0B192C"/>
                </a:solidFill>
                <a:latin typeface="Outfit" panose="020B0604020202020204" charset="0"/>
                <a:sym typeface="Outfit"/>
              </a:rPr>
              <a:t>: You are trying to figure out why a computer cannot access a </a:t>
            </a:r>
            <a:r>
              <a:rPr lang="en-US" sz="2850" b="1" dirty="0" smtClean="0">
                <a:solidFill>
                  <a:srgbClr val="0B192C"/>
                </a:solidFill>
                <a:latin typeface="Outfit" panose="020B0604020202020204" charset="0"/>
                <a:sym typeface="Outfit"/>
              </a:rPr>
              <a:t>website</a:t>
            </a:r>
            <a:endParaRPr lang="en-US" sz="2850" b="1" dirty="0">
              <a:solidFill>
                <a:srgbClr val="0B192C"/>
              </a:solidFill>
              <a:latin typeface="Outfit" panose="020B0604020202020204" charset="0"/>
              <a:sym typeface="Outfit"/>
            </a:endParaRPr>
          </a:p>
          <a:p>
            <a:pPr>
              <a:buClr>
                <a:schemeClr val="bg1"/>
              </a:buClr>
            </a:pPr>
            <a:endParaRPr lang="en-US" sz="2850" b="1" dirty="0" smtClean="0">
              <a:solidFill>
                <a:srgbClr val="0B192C"/>
              </a:solidFill>
              <a:latin typeface="Outfit" panose="020B0604020202020204" charset="0"/>
              <a:sym typeface="Outfit"/>
            </a:endParaRPr>
          </a:p>
          <a:p>
            <a:pPr>
              <a:buClr>
                <a:schemeClr val="bg1"/>
              </a:buClr>
            </a:pPr>
            <a:endParaRPr lang="en-US" sz="2850" b="1" dirty="0">
              <a:solidFill>
                <a:srgbClr val="0B192C"/>
              </a:solidFill>
              <a:latin typeface="Outfit" panose="020B0604020202020204" charset="0"/>
              <a:sym typeface="Outfit"/>
            </a:endParaRPr>
          </a:p>
          <a:p>
            <a:pPr>
              <a:buClr>
                <a:schemeClr val="bg1"/>
              </a:buClr>
            </a:pPr>
            <a:r>
              <a:rPr lang="en-US" sz="2000" i="1" dirty="0"/>
              <a:t>In Real Life:</a:t>
            </a:r>
            <a:r>
              <a:rPr lang="en-US" sz="2000" dirty="0"/>
              <a:t> You just get a "Timed Out" error on your screen, and you have to guess where it failed</a:t>
            </a:r>
            <a:r>
              <a:rPr lang="en-US" sz="2000" dirty="0" smtClean="0"/>
              <a:t>.</a:t>
            </a:r>
          </a:p>
          <a:p>
            <a:pPr>
              <a:buClr>
                <a:schemeClr val="bg1"/>
              </a:buClr>
            </a:pPr>
            <a:endParaRPr lang="en-US" sz="2000" b="1" dirty="0">
              <a:latin typeface="Outfit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en-US" sz="2000" i="1" dirty="0"/>
              <a:t>In Packet Tracer:</a:t>
            </a:r>
            <a:r>
              <a:rPr lang="en-US" sz="2000" dirty="0"/>
              <a:t> You switch to </a:t>
            </a:r>
            <a:r>
              <a:rPr lang="en-US" sz="2000" b="1" dirty="0"/>
              <a:t>Simulation Mode</a:t>
            </a:r>
            <a:r>
              <a:rPr lang="en-US" sz="2000" dirty="0"/>
              <a:t> and click "Go." You will see an envelope icon leave the PC, travel to the switch, move to the router, and suddenly stop at a Firewall. You can click on that specific envelope, and Packet Tracer will show you a note: </a:t>
            </a:r>
            <a:r>
              <a:rPr lang="en-US" sz="2000" i="1" dirty="0"/>
              <a:t>"Layer 3: The packet matches the criteria of Access Control List 101 and is dropped."</a:t>
            </a:r>
            <a:r>
              <a:rPr lang="en-US" sz="2000" dirty="0"/>
              <a:t> It visually points out the exact point of failure.</a:t>
            </a:r>
            <a:endParaRPr lang="en-US" sz="2000" b="1" dirty="0">
              <a:latin typeface="Outfit" panose="020B0604020202020204" charset="0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641041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1943100" y="2955577"/>
            <a:ext cx="83058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B192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"Packet Tracer is the primary gateway between technical theory and active enterprise deployments, letting us build and crash designs safely."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4557712" y="5782962"/>
            <a:ext cx="3076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— Networking Academy Administrator</a:t>
            </a:r>
            <a:endParaRPr dirty="0"/>
          </a:p>
        </p:txBody>
      </p:sp>
      <p:sp>
        <p:nvSpPr>
          <p:cNvPr id="219" name="Google Shape;219;p23"/>
          <p:cNvSpPr txBox="1"/>
          <p:nvPr/>
        </p:nvSpPr>
        <p:spPr>
          <a:xfrm>
            <a:off x="1419225" y="3193702"/>
            <a:ext cx="38100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0" i="0" u="none" strike="noStrike" cap="none">
                <a:solidFill>
                  <a:srgbClr val="93C6E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"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10391775" y="4378527"/>
            <a:ext cx="38100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0" i="0" u="none" strike="noStrike" cap="none">
                <a:solidFill>
                  <a:srgbClr val="93C6E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"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904875" y="571500"/>
            <a:ext cx="1105138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92C"/>
                </a:solidFill>
                <a:latin typeface="Outfit"/>
                <a:ea typeface="Outfit"/>
                <a:cs typeface="Outfit"/>
                <a:sym typeface="Outfit"/>
              </a:rPr>
              <a:t>Real-World Applications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762000" y="571500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1104900" y="3352800"/>
            <a:ext cx="4457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761202" y="2081122"/>
            <a:ext cx="11051381" cy="351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850" b="1" dirty="0">
                <a:solidFill>
                  <a:srgbClr val="0B192C"/>
                </a:solidFill>
                <a:latin typeface="Outfit"/>
                <a:sym typeface="Outfit"/>
              </a:rPr>
              <a:t>Conclusion</a:t>
            </a:r>
            <a:endParaRPr lang="en-US" sz="2850" b="1" dirty="0" smtClean="0">
              <a:solidFill>
                <a:srgbClr val="0B192C"/>
              </a:solidFill>
              <a:latin typeface="Outfit" panose="020B0604020202020204" charset="0"/>
              <a:sym typeface="Outfit"/>
            </a:endParaRPr>
          </a:p>
          <a:p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Cisco </a:t>
            </a:r>
            <a:r>
              <a:rPr lang="en-US" sz="2000" dirty="0"/>
              <a:t>Packet Tracer is a powerful and widely used network simulation tool developed by Cisco.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It </a:t>
            </a:r>
            <a:r>
              <a:rPr lang="en-US" sz="2000" dirty="0"/>
              <a:t>provides a virtual environment for designing, configuring, testing, and troubleshooting computer networks. 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/>
              <a:t>software includes a wide range of networking devices such as routers, switches, servers, wireless devices, and end-user devices.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Users can practice networking concepts without the need for expensive physical equipment.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Features such as Real-Time Mode and Simulation Mode help users understand how data travels through a network. </a:t>
            </a:r>
          </a:p>
          <a:p>
            <a:pPr>
              <a:buClr>
                <a:schemeClr val="bg1"/>
              </a:buClr>
            </a:pPr>
            <a:endParaRPr lang="en-US" sz="2000" b="1" dirty="0">
              <a:latin typeface="Outfit" panose="020B0604020202020204" charset="0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36779" y="2081122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56833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1104900" y="3352800"/>
            <a:ext cx="4457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982512" y="1763903"/>
            <a:ext cx="11051381" cy="3824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850" b="1" dirty="0">
                <a:solidFill>
                  <a:srgbClr val="0B192C"/>
                </a:solidFill>
                <a:latin typeface="Outfit"/>
                <a:sym typeface="Outfit"/>
              </a:rPr>
              <a:t>Conclusion</a:t>
            </a:r>
            <a:endParaRPr lang="en-US" sz="2850" b="1" dirty="0" smtClean="0">
              <a:solidFill>
                <a:srgbClr val="0B192C"/>
              </a:solidFill>
              <a:latin typeface="Outfit" panose="020B0604020202020204" charset="0"/>
              <a:sym typeface="Outfit"/>
            </a:endParaRPr>
          </a:p>
          <a:p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Cisco Packet Tracer supports important networking technologies including IP addressing, DHCP, VLANs, routing, switching, wireless networking, and network security.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It is an excellent learning platform for students, educators, and networking professionals.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software helps bridge the gap between theoretical knowledge and practical implementation.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It allows users to develop troubleshooting skills and gain hands-on experience in a safe environment.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Cisco Packet Tracer is commonly used for networking education, laboratory exercises, project development, and certification preparation such as CCNA. </a:t>
            </a:r>
          </a:p>
          <a:p>
            <a:pPr>
              <a:buClr>
                <a:schemeClr val="bg1"/>
              </a:buClr>
            </a:pPr>
            <a:endParaRPr lang="en-US" sz="2000" b="1" dirty="0">
              <a:latin typeface="Outfit" panose="020B0604020202020204" charset="0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839637" y="1763903"/>
            <a:ext cx="57150" cy="457200"/>
          </a:xfrm>
          <a:prstGeom prst="rect">
            <a:avLst/>
          </a:prstGeom>
          <a:solidFill>
            <a:srgbClr val="008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10236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2;p14" descr="image.png">
            <a:extLst>
              <a:ext uri="{FF2B5EF4-FFF2-40B4-BE49-F238E27FC236}">
                <a16:creationId xmlns:a16="http://schemas.microsoft.com/office/drawing/2014/main" xmlns="" id="{7A4D28C3-3E5C-9107-B2BE-35869CB867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E609B7F-45B4-BAE4-2FF7-336E62668581}"/>
              </a:ext>
            </a:extLst>
          </p:cNvPr>
          <p:cNvSpPr txBox="1"/>
          <p:nvPr/>
        </p:nvSpPr>
        <p:spPr>
          <a:xfrm>
            <a:off x="609600" y="2182958"/>
            <a:ext cx="1108781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1"/>
              </a:buClr>
            </a:pPr>
            <a:r>
              <a:rPr lang="en-US" sz="3600" dirty="0">
                <a:solidFill>
                  <a:schemeClr val="bg1"/>
                </a:solidFill>
              </a:rPr>
              <a:t>Cisco Packet Tracer plays a vital role in networking education by providing an interactive, practical, and affordable platform for learning modern networking technologies.</a:t>
            </a:r>
            <a:endParaRPr lang="en-US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17B10AA-3361-AE50-D5D0-A91A4C5A1800}"/>
              </a:ext>
            </a:extLst>
          </p:cNvPr>
          <p:cNvSpPr txBox="1"/>
          <p:nvPr/>
        </p:nvSpPr>
        <p:spPr>
          <a:xfrm>
            <a:off x="0" y="366171"/>
            <a:ext cx="12554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Statement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2471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2;p14" descr="image.png">
            <a:extLst>
              <a:ext uri="{FF2B5EF4-FFF2-40B4-BE49-F238E27FC236}">
                <a16:creationId xmlns:a16="http://schemas.microsoft.com/office/drawing/2014/main" xmlns="" id="{FACDD1C7-7B85-A488-9E70-348EA22204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6B1AE0D-5529-3AA8-9752-3F4AA034A1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14560" b="761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5A19C62-EE37-84DE-9CCB-0647ED460714}"/>
              </a:ext>
            </a:extLst>
          </p:cNvPr>
          <p:cNvSpPr txBox="1"/>
          <p:nvPr/>
        </p:nvSpPr>
        <p:spPr>
          <a:xfrm>
            <a:off x="827314" y="1536173"/>
            <a:ext cx="105373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future IT professionals, learning Cisco Packet Tracer can help us develop practical networking skills and prepare for real-world networking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92674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2;p14" descr="image.png">
            <a:extLst>
              <a:ext uri="{FF2B5EF4-FFF2-40B4-BE49-F238E27FC236}">
                <a16:creationId xmlns:a16="http://schemas.microsoft.com/office/drawing/2014/main" xmlns="" id="{27B1BAFB-5ECC-BB5C-26ED-243308B81E1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4A8AA4E-550F-6C9D-2C95-003B00D66131}"/>
              </a:ext>
            </a:extLst>
          </p:cNvPr>
          <p:cNvSpPr txBox="1"/>
          <p:nvPr/>
        </p:nvSpPr>
        <p:spPr>
          <a:xfrm>
            <a:off x="1756228" y="2644170"/>
            <a:ext cx="86795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Bodoni MT Black" panose="02070A03080606020203" pitchFamily="18" charset="0"/>
              </a:rPr>
              <a:t>Thank You ! </a:t>
            </a:r>
          </a:p>
        </p:txBody>
      </p:sp>
    </p:spTree>
    <p:extLst>
      <p:ext uri="{BB962C8B-B14F-4D97-AF65-F5344CB8AC3E}">
        <p14:creationId xmlns:p14="http://schemas.microsoft.com/office/powerpoint/2010/main" val="158218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comb/>
      </p:transition>
    </mc:Choice>
    <mc:Fallback xmlns=""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1174</Words>
  <Application>Microsoft Office PowerPoint</Application>
  <PresentationFormat>Widescreen</PresentationFormat>
  <Paragraphs>113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Wingdings</vt:lpstr>
      <vt:lpstr>Plus Jakarta Sans Medium</vt:lpstr>
      <vt:lpstr>Bodoni MT Black</vt:lpstr>
      <vt:lpstr>Arial</vt:lpstr>
      <vt:lpstr>Outfit</vt:lpstr>
      <vt:lpstr>Outfit SemiBold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23</cp:revision>
  <dcterms:modified xsi:type="dcterms:W3CDTF">2026-06-14T16:11:54Z</dcterms:modified>
</cp:coreProperties>
</file>